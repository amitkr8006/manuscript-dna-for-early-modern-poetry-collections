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63" r:id="rId5"/>
    <p:sldId id="267" r:id="rId6"/>
    <p:sldId id="256" r:id="rId7"/>
    <p:sldId id="257" r:id="rId8"/>
    <p:sldId id="258" r:id="rId9"/>
    <p:sldId id="261" r:id="rId10"/>
    <p:sldId id="262" r:id="rId11"/>
    <p:sldId id="264" r:id="rId12"/>
    <p:sldId id="268" r:id="rId13"/>
    <p:sldId id="260" r:id="rId14"/>
    <p:sldId id="266" r:id="rId15"/>
    <p:sldId id="270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B2DA7-35BF-4104-86A0-1C22CAEC85E2}" v="64" dt="2025-07-09T09:32:49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CB48C-0603-45AA-926E-42E5A2F0756C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52D2B-AAF3-49AA-A573-55409B72F3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57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4204-22D4-ED8B-8F40-B29B14B3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56CC4-D160-4C8A-BE4C-5A84C4368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4CB60-AAA2-40C2-2B9F-7480DED41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11D67-49B4-EC0D-76D2-401C6554B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034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1A2B-2D79-FA43-CC01-1A499921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3F801-2650-0C61-7B29-BE4E9B2A3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C2D1D-57A8-B0A0-D9C0-6AB52C195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03E0B-74B6-8B0E-CD1F-22B29081A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4201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773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23E6-AD39-1176-CC38-CA28F3C81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27A64-003B-F8CE-23BC-E7C5FE964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56A22-7DFC-D206-143E-E7BE8BD69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C3EB0-993E-0AB2-8D33-CF5FE44FC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4212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A20D-FC41-2B61-AC53-9BE797AC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D2850-8A5F-5D8B-37B5-F0DC3505C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DA1C3-203A-5B93-BF2A-3E58E66FD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C5D8-4FCC-B672-E353-120E8499F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480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1466-4642-C7CF-A5F6-858D0A6A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F70D2-2422-5C0D-7689-A98231A6C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7E8C7-F663-CA87-256B-DC2924E00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F5C47-563D-4BA1-6309-605C105C9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969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C57B-476F-5715-EE64-DA3F1167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02B7F-4B13-264C-A5AF-D8DE8A473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F35D5-48FA-3B41-C74D-C2DE2FB9C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ECE8-317E-9B90-F5E4-355056A91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514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6F8D-5B4A-F353-4F14-6F827A90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D386F-FEAE-53EF-2466-A467B5B36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74429-BE05-CBD1-955D-1CA138C4B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88B12-5266-DE4E-7C5D-4CA6D0723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671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804B-0FEB-E3F6-CC66-6C079401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CECFB-5DDA-AF17-A05D-12B85E48A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40EC7-A8E4-6736-B18B-F62175AF2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0184F-B1A7-66AE-D3BE-D1ABF99AF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54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E887-E580-5ABA-8FE9-AF3C4132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9CEA5-6440-77A6-4CD4-2829D4988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7F226-73A9-ACA3-A7A0-3A015CEA5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8037F-18C1-01EB-2C1B-5F314975E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1973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FB1B2-0CA0-94B5-2E0E-150D1C4A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D9938-EB91-3436-6A10-C4F6479C8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4A388-D9E2-3C5D-506C-E1A604D6F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21674-4BE9-14A8-5C02-71370F171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0031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408C-13F2-AA7A-0C6E-F07CB487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E62E9-98CA-9DB7-1D83-24C159A0A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4A477-849C-43A9-B159-D9BEC99C3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25D7B-9A9C-73F4-1B9B-8BB4B0BFD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3752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F3AA-18C2-FF70-7D54-930806C7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C8E33-ED04-5DE3-D473-FF3554E0D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A875B-A7B3-03C7-D197-A670C424B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927FF-2A44-EDE6-EBA7-C4DA81BB7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52D2B-AAF3-49AA-A573-55409B72F34B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9728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37FE-35BB-5B7B-29EE-374658A81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4A814-5125-2AC9-50C5-700CDDF19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7B152-EA6A-A747-6246-615CE813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001C-5384-5DF9-B7A5-AAFD3BB9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0300-6583-E556-61B5-BDEFB68F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98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C5A0-E46D-531C-CE1F-A19F15A6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5208B-12EB-B863-A23F-4EE8735D8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749A-8C3C-A341-A700-BB9EAB7F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890F4-A445-700D-9485-0246A777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D6B3B-B848-9DC3-0E6C-859110FE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69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63BC-DA42-4BC7-4B2D-A7F1058B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131DE-2D44-382C-BC8E-CBF84A9DD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3816-D08B-B97F-1169-A9F84976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B9F03-3483-E443-DD85-E4C2E5E3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4F92-4DEF-2CE2-6A3C-385B6C68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521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0097-A572-CBDF-1F8F-0EA18331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03C1-5603-5596-3E5A-27F527845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3958B-DB54-9D1E-6243-931B6BB87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528C6-93E2-3D23-5DEE-90ECFFAD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BF119-5F3B-E356-F869-959D8587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EED9A-0B14-BD3F-9C44-5049D8F8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3555-8B49-E237-6AA8-9D3B960F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C43E4-6EA5-FEC7-4442-69E489C1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ACF25-FFE4-9132-00B2-A0D746A03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D2625-4DD3-B3C8-5D49-53E0C4631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BB9ED-F583-5547-08DA-005F2D71E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784666-91FE-8370-7E06-ED0D6353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20369-7223-B47A-640B-457339396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61D16-4332-B98E-AE11-C73B490A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4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0DE1-067A-9986-9B49-D195A5DF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10DDE-28DB-83A3-82D8-02119ECF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59EB5-A3FD-71E1-88F3-CF92E796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016ED-F10A-BB2D-BFAC-4E92E534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0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32A36-7EA5-9B62-7F7B-43BD3072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45773-DCBA-AC06-8C24-4E10991C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15138-FBD5-6403-00B2-F24FCC59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416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6586-9A67-8B40-B5D6-3476874D4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BFB25-CFA1-2592-1011-44A19E0D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3E57C-7899-505B-5AC6-B222DF543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847C5-6150-FB00-A1F3-E34C124E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3617B-228A-6784-3C2B-5CC59A45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969D2-5882-C0D0-EF0C-C4973D31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121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A387-EABE-449B-03E7-259A03E8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0BB41-AAF1-4522-BC77-EF401319B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7CA3B-9A40-90DA-E75B-81FEF5FA8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1B137-E59A-4ACC-48DD-1FF31748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08CDC-9C38-1C5E-DE90-F509D22E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C3967-369C-EFD3-588D-9C39214F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648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CF39-4885-76B7-B9BA-06007A5B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BB7B3-0DF4-2E72-016C-724A944D7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2A937-7049-C080-450F-7CF491B1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CC37C-AA0E-9FF8-65BE-880B3C04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882D-0234-E51D-789B-00B55F2E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541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460C0-46B5-5343-B4EC-A73856E93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5F115-9FF4-1BED-F7A2-B20879989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A724A-5881-E0A2-CDB4-3EE99B7D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B2B81-F936-9D65-488A-8B84962C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C6BFB-145F-24DF-359F-B04E5B7C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37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A3475-8B78-65BF-FF07-C12D2A97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8BB56-36E8-45EA-02D9-621858F7F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649AB-4817-AE5B-CD43-2077476B0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AA530-04B1-464B-9EB0-622F287BF230}" type="datetimeFigureOut">
              <a:rPr lang="en-CA" smtClean="0"/>
              <a:t>2025-07-09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B1CF-533B-1FA0-4AB9-4EBCC598A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27118-9675-66D6-7851-3366F33C2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B31F0-B1A1-402D-9035-F037080726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494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FDD9-CF61-C787-AD52-F45D884D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0445A7D-0B64-FCBF-CF30-904387B7608E}"/>
              </a:ext>
            </a:extLst>
          </p:cNvPr>
          <p:cNvSpPr txBox="1"/>
          <p:nvPr/>
        </p:nvSpPr>
        <p:spPr>
          <a:xfrm>
            <a:off x="1499616" y="1596522"/>
            <a:ext cx="91150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dirty="0"/>
              <a:t>Fantastic Four at Table Six</a:t>
            </a:r>
          </a:p>
          <a:p>
            <a:pPr algn="ctr"/>
            <a:endParaRPr lang="en-CA" sz="4000" dirty="0"/>
          </a:p>
          <a:p>
            <a:pPr algn="ctr"/>
            <a:r>
              <a:rPr lang="en-CA" sz="4000" dirty="0"/>
              <a:t>Gauging Collectors’ Character; Or,</a:t>
            </a:r>
          </a:p>
          <a:p>
            <a:pPr algn="ctr"/>
            <a:r>
              <a:rPr lang="en-CA" sz="4000" dirty="0"/>
              <a:t>The Fingerprint or DNA of Collections </a:t>
            </a:r>
          </a:p>
        </p:txBody>
      </p:sp>
    </p:spTree>
    <p:extLst>
      <p:ext uri="{BB962C8B-B14F-4D97-AF65-F5344CB8AC3E}">
        <p14:creationId xmlns:p14="http://schemas.microsoft.com/office/powerpoint/2010/main" val="30965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8F67-2CB2-E529-D051-0A353052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4F3355F-9CB2-1F48-5AF5-31EC32496307}"/>
              </a:ext>
            </a:extLst>
          </p:cNvPr>
          <p:cNvSpPr txBox="1"/>
          <p:nvPr/>
        </p:nvSpPr>
        <p:spPr>
          <a:xfrm>
            <a:off x="2752344" y="252354"/>
            <a:ext cx="7853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Semantic Similarities between MS miscellanies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B9141-6FE3-E11D-A29A-E540E3659BCF}"/>
              </a:ext>
            </a:extLst>
          </p:cNvPr>
          <p:cNvSpPr txBox="1"/>
          <p:nvPr/>
        </p:nvSpPr>
        <p:spPr>
          <a:xfrm>
            <a:off x="372872" y="1019696"/>
            <a:ext cx="1168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Research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How do these collections reflect their collectors—their interests, preferences, tendencies?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What is the range of profiles of these collectors? And how diverse are these collections (and the collectors they represent)?</a:t>
            </a:r>
          </a:p>
        </p:txBody>
      </p:sp>
    </p:spTree>
    <p:extLst>
      <p:ext uri="{BB962C8B-B14F-4D97-AF65-F5344CB8AC3E}">
        <p14:creationId xmlns:p14="http://schemas.microsoft.com/office/powerpoint/2010/main" val="353510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040CB2-FCDB-EFBC-74C3-911728C31FF5}"/>
              </a:ext>
            </a:extLst>
          </p:cNvPr>
          <p:cNvSpPr txBox="1"/>
          <p:nvPr/>
        </p:nvSpPr>
        <p:spPr>
          <a:xfrm>
            <a:off x="457200" y="1693871"/>
            <a:ext cx="29464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Embedding vector data related to poems content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1DDAD-DBF8-F412-5E9F-52D953904E1F}"/>
              </a:ext>
            </a:extLst>
          </p:cNvPr>
          <p:cNvSpPr txBox="1"/>
          <p:nvPr/>
        </p:nvSpPr>
        <p:spPr>
          <a:xfrm>
            <a:off x="4521200" y="967614"/>
            <a:ext cx="314960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Conflate heading/title fields and concatenate with first/second/penultimate/last lines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03277-5981-C321-7647-013B7CDEAF9B}"/>
              </a:ext>
            </a:extLst>
          </p:cNvPr>
          <p:cNvSpPr txBox="1"/>
          <p:nvPr/>
        </p:nvSpPr>
        <p:spPr>
          <a:xfrm>
            <a:off x="8788400" y="1693871"/>
            <a:ext cx="31496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Compile item data within manuscript collections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F2BFA-67D0-0BCC-A6A7-EB81568B0580}"/>
              </a:ext>
            </a:extLst>
          </p:cNvPr>
          <p:cNvSpPr txBox="1"/>
          <p:nvPr/>
        </p:nvSpPr>
        <p:spPr>
          <a:xfrm>
            <a:off x="8808720" y="3943033"/>
            <a:ext cx="31496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Analyse topical content and sentiment of individual collections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9E75C-786A-08A0-BCE9-6D1539A25379}"/>
              </a:ext>
            </a:extLst>
          </p:cNvPr>
          <p:cNvSpPr txBox="1"/>
          <p:nvPr/>
        </p:nvSpPr>
        <p:spPr>
          <a:xfrm>
            <a:off x="4561078" y="3929118"/>
            <a:ext cx="31496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Compare MS collections for degrees of semantic, topical and thematic similarity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C173-C2A5-B713-87DE-2D29B0724C6F}"/>
              </a:ext>
            </a:extLst>
          </p:cNvPr>
          <p:cNvSpPr txBox="1"/>
          <p:nvPr/>
        </p:nvSpPr>
        <p:spPr>
          <a:xfrm>
            <a:off x="254000" y="4148467"/>
            <a:ext cx="31496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Manifest as visualizations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6D17018-A511-0C2E-2EB0-1E17ECF36249}"/>
              </a:ext>
            </a:extLst>
          </p:cNvPr>
          <p:cNvSpPr/>
          <p:nvPr/>
        </p:nvSpPr>
        <p:spPr>
          <a:xfrm>
            <a:off x="3474720" y="17747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6894474-32C8-566A-3CAD-4AE3014FB889}"/>
              </a:ext>
            </a:extLst>
          </p:cNvPr>
          <p:cNvSpPr/>
          <p:nvPr/>
        </p:nvSpPr>
        <p:spPr>
          <a:xfrm>
            <a:off x="7750556" y="17747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5D7F074-FB1F-9BB5-4377-8D88A56E2862}"/>
              </a:ext>
            </a:extLst>
          </p:cNvPr>
          <p:cNvSpPr/>
          <p:nvPr/>
        </p:nvSpPr>
        <p:spPr>
          <a:xfrm rot="5400000">
            <a:off x="9649968" y="2921508"/>
            <a:ext cx="142646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70940-0A98-7450-1C8E-CAF6BEBF34B8}"/>
              </a:ext>
            </a:extLst>
          </p:cNvPr>
          <p:cNvSpPr txBox="1"/>
          <p:nvPr/>
        </p:nvSpPr>
        <p:spPr>
          <a:xfrm>
            <a:off x="2752344" y="252354"/>
            <a:ext cx="7853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Semantic Similarities between MS miscellanies 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140310B-6FAB-1921-6EE2-ECAF55D1CA83}"/>
              </a:ext>
            </a:extLst>
          </p:cNvPr>
          <p:cNvSpPr/>
          <p:nvPr/>
        </p:nvSpPr>
        <p:spPr>
          <a:xfrm rot="10800000">
            <a:off x="7750556" y="417437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FD77CF6-EC87-51A4-23A3-70B9C11D7EBF}"/>
              </a:ext>
            </a:extLst>
          </p:cNvPr>
          <p:cNvSpPr/>
          <p:nvPr/>
        </p:nvSpPr>
        <p:spPr>
          <a:xfrm rot="10800000">
            <a:off x="3474720" y="414846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FCDFD5-FF0C-FD02-D8EE-521C732D13D5}"/>
              </a:ext>
            </a:extLst>
          </p:cNvPr>
          <p:cNvSpPr txBox="1"/>
          <p:nvPr/>
        </p:nvSpPr>
        <p:spPr>
          <a:xfrm>
            <a:off x="4541520" y="2155717"/>
            <a:ext cx="314960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Data challenges: limited semantic content; redundancy/repetition; personal names</a:t>
            </a:r>
          </a:p>
        </p:txBody>
      </p:sp>
    </p:spTree>
    <p:extLst>
      <p:ext uri="{BB962C8B-B14F-4D97-AF65-F5344CB8AC3E}">
        <p14:creationId xmlns:p14="http://schemas.microsoft.com/office/powerpoint/2010/main" val="253972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44D0-7BAD-90DB-0AF6-0CDCA802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8E57FB2-ECC6-FCA0-77E3-A1FE6434C766}"/>
              </a:ext>
            </a:extLst>
          </p:cNvPr>
          <p:cNvSpPr txBox="1"/>
          <p:nvPr/>
        </p:nvSpPr>
        <p:spPr>
          <a:xfrm>
            <a:off x="223990" y="1113158"/>
            <a:ext cx="39837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</a:rPr>
              <a:t>Oxford Rawl. poet. 218</a:t>
            </a:r>
            <a:r>
              <a:rPr lang="en-CA" dirty="0"/>
              <a:t> entirely poems by a non-canonical writer Robert Robinson (fl. 1660).</a:t>
            </a:r>
          </a:p>
          <a:p>
            <a:endParaRPr lang="en-CA" sz="2400" dirty="0">
              <a:effectLst/>
            </a:endParaRPr>
          </a:p>
          <a:p>
            <a:r>
              <a:rPr lang="en-CA" b="1" dirty="0">
                <a:solidFill>
                  <a:schemeClr val="accent4"/>
                </a:solidFill>
              </a:rPr>
              <a:t>Folger MS v.b.370</a:t>
            </a:r>
            <a:r>
              <a:rPr lang="en-CA" dirty="0">
                <a:solidFill>
                  <a:schemeClr val="accent4"/>
                </a:solidFill>
              </a:rPr>
              <a:t> </a:t>
            </a:r>
            <a:r>
              <a:rPr lang="en-CA" dirty="0"/>
              <a:t>a “miscellany” of anonymous author(s) </a:t>
            </a:r>
          </a:p>
          <a:p>
            <a:r>
              <a:rPr lang="en-CA" dirty="0"/>
              <a:t> </a:t>
            </a:r>
            <a:endParaRPr lang="en-CA" sz="2400" dirty="0">
              <a:effectLst/>
            </a:endParaRPr>
          </a:p>
          <a:p>
            <a:r>
              <a:rPr lang="en-CA" b="1" dirty="0">
                <a:solidFill>
                  <a:schemeClr val="accent2"/>
                </a:solidFill>
              </a:rPr>
              <a:t>Leeds University Library Lt.40</a:t>
            </a:r>
            <a:r>
              <a:rPr lang="en-CA" b="1" dirty="0"/>
              <a:t> </a:t>
            </a:r>
            <a:r>
              <a:rPr lang="en-CA" dirty="0"/>
              <a:t>entirely poems by noncanonical writer Sir Philip Wodehouse</a:t>
            </a:r>
            <a:endParaRPr lang="en-CA" sz="2400" dirty="0">
              <a:effectLst/>
            </a:endParaRPr>
          </a:p>
          <a:p>
            <a:endParaRPr lang="en-CA" b="1" dirty="0"/>
          </a:p>
          <a:p>
            <a:r>
              <a:rPr lang="en-CA" b="1" dirty="0">
                <a:solidFill>
                  <a:srgbClr val="FF0000"/>
                </a:solidFill>
              </a:rPr>
              <a:t>Yale Osborn MS fb 217</a:t>
            </a:r>
            <a:endParaRPr lang="en-CA" sz="2400" dirty="0">
              <a:solidFill>
                <a:srgbClr val="FF0000"/>
              </a:solidFill>
              <a:effectLst/>
            </a:endParaRPr>
          </a:p>
          <a:p>
            <a:r>
              <a:rPr lang="en-CA" dirty="0"/>
              <a:t>Ten books of epigrams.</a:t>
            </a:r>
            <a:endParaRPr lang="en-CA" sz="2400" dirty="0">
              <a:effectLst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9ABE3E3-EF7E-3743-FDDC-955B14B881CD}"/>
              </a:ext>
            </a:extLst>
          </p:cNvPr>
          <p:cNvSpPr/>
          <p:nvPr/>
        </p:nvSpPr>
        <p:spPr>
          <a:xfrm rot="10800000">
            <a:off x="7750556" y="37145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62A48-30F2-DA2D-4169-87C64AD15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02" y="350392"/>
            <a:ext cx="7747708" cy="6008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E7B6F8-EEAE-CE6E-8AC2-128C176124AD}"/>
              </a:ext>
            </a:extLst>
          </p:cNvPr>
          <p:cNvSpPr txBox="1"/>
          <p:nvPr/>
        </p:nvSpPr>
        <p:spPr>
          <a:xfrm>
            <a:off x="236566" y="499494"/>
            <a:ext cx="3983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Four largest collections</a:t>
            </a:r>
          </a:p>
        </p:txBody>
      </p:sp>
    </p:spTree>
    <p:extLst>
      <p:ext uri="{BB962C8B-B14F-4D97-AF65-F5344CB8AC3E}">
        <p14:creationId xmlns:p14="http://schemas.microsoft.com/office/powerpoint/2010/main" val="111411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9792D-2F14-DD09-9CFE-C46E6C82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49044F3-5569-352A-678B-3083F477F152}"/>
              </a:ext>
            </a:extLst>
          </p:cNvPr>
          <p:cNvSpPr txBox="1"/>
          <p:nvPr/>
        </p:nvSpPr>
        <p:spPr>
          <a:xfrm>
            <a:off x="224536" y="1122302"/>
            <a:ext cx="39837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Oxford Rawl. poet. 218</a:t>
            </a:r>
            <a:r>
              <a:rPr lang="en-CA" dirty="0"/>
              <a:t> entirely poems by a non-canonical writer Robert Robinson (fl. 1660)</a:t>
            </a:r>
          </a:p>
          <a:p>
            <a:endParaRPr lang="en-CA" sz="2400" dirty="0">
              <a:effectLst/>
            </a:endParaRPr>
          </a:p>
          <a:p>
            <a:r>
              <a:rPr lang="en-CA" b="1" dirty="0"/>
              <a:t>Folger MS v.b.370</a:t>
            </a:r>
            <a:r>
              <a:rPr lang="en-CA" dirty="0"/>
              <a:t> a “miscellany” of anonymous author(s) </a:t>
            </a:r>
          </a:p>
          <a:p>
            <a:r>
              <a:rPr lang="en-CA" dirty="0"/>
              <a:t> </a:t>
            </a:r>
            <a:endParaRPr lang="en-CA" sz="2400" dirty="0">
              <a:effectLst/>
            </a:endParaRPr>
          </a:p>
          <a:p>
            <a:r>
              <a:rPr lang="en-CA" b="1" dirty="0"/>
              <a:t>Leeds University LibraryLt.40 </a:t>
            </a:r>
            <a:r>
              <a:rPr lang="en-CA" dirty="0"/>
              <a:t>entirely poems by noncanonical writer Sir Philip Wodehouse</a:t>
            </a:r>
            <a:endParaRPr lang="en-CA" sz="2400" dirty="0">
              <a:effectLst/>
            </a:endParaRPr>
          </a:p>
          <a:p>
            <a:endParaRPr lang="en-CA" b="1" dirty="0"/>
          </a:p>
          <a:p>
            <a:r>
              <a:rPr lang="en-CA" b="1" dirty="0">
                <a:solidFill>
                  <a:srgbClr val="FF0000"/>
                </a:solidFill>
              </a:rPr>
              <a:t>Yale Osborn MS fb 217</a:t>
            </a:r>
            <a:endParaRPr lang="en-CA" sz="2400" dirty="0">
              <a:solidFill>
                <a:srgbClr val="FF0000"/>
              </a:solidFill>
              <a:effectLst/>
            </a:endParaRPr>
          </a:p>
          <a:p>
            <a:r>
              <a:rPr lang="en-CA" dirty="0"/>
              <a:t>Ten books of epigrams</a:t>
            </a:r>
            <a:endParaRPr lang="en-CA" sz="2400" dirty="0">
              <a:effectLst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DDB12A0-3DFE-4B39-E8F5-F2797D46B50E}"/>
              </a:ext>
            </a:extLst>
          </p:cNvPr>
          <p:cNvSpPr/>
          <p:nvPr/>
        </p:nvSpPr>
        <p:spPr>
          <a:xfrm rot="10800000">
            <a:off x="7750556" y="37145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393D6A-AA5F-C047-2D6D-3CE89C2CC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"/>
          <a:stretch>
            <a:fillRect/>
          </a:stretch>
        </p:blipFill>
        <p:spPr>
          <a:xfrm>
            <a:off x="5105707" y="535362"/>
            <a:ext cx="6610497" cy="578727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55F67C-C7C6-36D0-E2C1-E08004920199}"/>
              </a:ext>
            </a:extLst>
          </p:cNvPr>
          <p:cNvCxnSpPr>
            <a:cxnSpLocks/>
          </p:cNvCxnSpPr>
          <p:nvPr/>
        </p:nvCxnSpPr>
        <p:spPr>
          <a:xfrm>
            <a:off x="2762203" y="4453128"/>
            <a:ext cx="234350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265DF8-7563-A843-D21B-7473946FAE36}"/>
              </a:ext>
            </a:extLst>
          </p:cNvPr>
          <p:cNvSpPr txBox="1"/>
          <p:nvPr/>
        </p:nvSpPr>
        <p:spPr>
          <a:xfrm>
            <a:off x="236566" y="499494"/>
            <a:ext cx="3983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Four largest collections</a:t>
            </a:r>
          </a:p>
        </p:txBody>
      </p:sp>
    </p:spTree>
    <p:extLst>
      <p:ext uri="{BB962C8B-B14F-4D97-AF65-F5344CB8AC3E}">
        <p14:creationId xmlns:p14="http://schemas.microsoft.com/office/powerpoint/2010/main" val="293835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5EFE-86DD-B946-B597-7EEF8215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069CAA6-CF9D-E53D-38E5-B9B073E044A3}"/>
              </a:ext>
            </a:extLst>
          </p:cNvPr>
          <p:cNvSpPr txBox="1"/>
          <p:nvPr/>
        </p:nvSpPr>
        <p:spPr>
          <a:xfrm>
            <a:off x="261112" y="474345"/>
            <a:ext cx="433832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Miscellanies (plus MS fb 217)</a:t>
            </a:r>
          </a:p>
          <a:p>
            <a:endParaRPr lang="en-CA" dirty="0"/>
          </a:p>
          <a:p>
            <a:r>
              <a:rPr lang="en-CA" dirty="0"/>
              <a:t>Aberdeen University Library, MS 29</a:t>
            </a:r>
            <a:endParaRPr lang="en-CA" dirty="0">
              <a:effectLst/>
            </a:endParaRPr>
          </a:p>
          <a:p>
            <a:r>
              <a:rPr lang="en-CA" b="1" dirty="0">
                <a:solidFill>
                  <a:schemeClr val="accent4"/>
                </a:solidFill>
              </a:rPr>
              <a:t>British Library, Add. MS 25707</a:t>
            </a:r>
            <a:endParaRPr lang="en-CA" b="1" dirty="0">
              <a:solidFill>
                <a:schemeClr val="accent4"/>
              </a:solidFill>
              <a:effectLst/>
            </a:endParaRPr>
          </a:p>
          <a:p>
            <a:r>
              <a:rPr lang="en-CA" dirty="0"/>
              <a:t>British Library, Add. MS 30982</a:t>
            </a:r>
            <a:endParaRPr lang="en-CA" dirty="0">
              <a:effectLst/>
            </a:endParaRPr>
          </a:p>
          <a:p>
            <a:r>
              <a:rPr lang="en-CA" b="1" dirty="0">
                <a:solidFill>
                  <a:srgbClr val="FF0000"/>
                </a:solidFill>
              </a:rPr>
              <a:t>Bodleian, MS Ashmole 38</a:t>
            </a:r>
            <a:endParaRPr lang="en-CA" b="1" dirty="0">
              <a:solidFill>
                <a:srgbClr val="FF0000"/>
              </a:solidFill>
              <a:effectLst/>
            </a:endParaRPr>
          </a:p>
          <a:p>
            <a:r>
              <a:rPr lang="en-CA" dirty="0"/>
              <a:t>Folger, MS V.a.170</a:t>
            </a:r>
            <a:endParaRPr lang="en-CA" dirty="0">
              <a:effectLst/>
            </a:endParaRPr>
          </a:p>
          <a:p>
            <a:r>
              <a:rPr lang="en-CA" dirty="0"/>
              <a:t>Folger, MS V.a.97</a:t>
            </a:r>
            <a:endParaRPr lang="en-CA" dirty="0">
              <a:effectLst/>
            </a:endParaRPr>
          </a:p>
          <a:p>
            <a:r>
              <a:rPr lang="en-CA" dirty="0"/>
              <a:t>University of Nottingham, Pw V 37</a:t>
            </a:r>
            <a:endParaRPr lang="en-CA" dirty="0">
              <a:effectLst/>
            </a:endParaRPr>
          </a:p>
          <a:p>
            <a:r>
              <a:rPr lang="en-CA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Yale Osborn MS fb 217</a:t>
            </a:r>
            <a:endParaRPr lang="en-CA" sz="2400" dirty="0">
              <a:solidFill>
                <a:schemeClr val="accent5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4E9A9-D5F2-5ECE-3A52-A6734BFA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601" y="419353"/>
            <a:ext cx="7686646" cy="601929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CD4DB2-A7AB-545C-BDA8-9BA3C5DEAEDD}"/>
              </a:ext>
            </a:extLst>
          </p:cNvPr>
          <p:cNvCxnSpPr>
            <a:cxnSpLocks/>
          </p:cNvCxnSpPr>
          <p:nvPr/>
        </p:nvCxnSpPr>
        <p:spPr>
          <a:xfrm flipV="1">
            <a:off x="2807208" y="3125623"/>
            <a:ext cx="1960040" cy="12049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217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1CB0E-B8B2-DED9-C180-185AF16C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B28480-D8BC-242A-93DC-0CAC08550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576" y="283415"/>
            <a:ext cx="7056265" cy="63252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02CFB0-775B-FFEE-C0D2-F5E0550DB1F8}"/>
              </a:ext>
            </a:extLst>
          </p:cNvPr>
          <p:cNvSpPr txBox="1"/>
          <p:nvPr/>
        </p:nvSpPr>
        <p:spPr>
          <a:xfrm>
            <a:off x="242824" y="491366"/>
            <a:ext cx="49052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Miscellanies (plus MS fb 217)</a:t>
            </a:r>
          </a:p>
          <a:p>
            <a:endParaRPr lang="en-CA" dirty="0"/>
          </a:p>
          <a:p>
            <a:r>
              <a:rPr lang="en-CA" dirty="0"/>
              <a:t>Aberdeen University Library, MS 29</a:t>
            </a:r>
            <a:endParaRPr lang="en-CA" dirty="0">
              <a:effectLst/>
            </a:endParaRPr>
          </a:p>
          <a:p>
            <a:r>
              <a:rPr lang="en-CA" dirty="0"/>
              <a:t>British Library, Add. MS 25707</a:t>
            </a:r>
            <a:endParaRPr lang="en-CA" dirty="0">
              <a:effectLst/>
            </a:endParaRPr>
          </a:p>
          <a:p>
            <a:r>
              <a:rPr lang="en-CA" dirty="0"/>
              <a:t>British Library, Add. MS 30982</a:t>
            </a:r>
            <a:endParaRPr lang="en-CA" dirty="0">
              <a:effectLst/>
            </a:endParaRPr>
          </a:p>
          <a:p>
            <a:r>
              <a:rPr lang="en-CA" dirty="0"/>
              <a:t>Bodleian, MS Ashmole 38</a:t>
            </a:r>
            <a:endParaRPr lang="en-CA" dirty="0">
              <a:effectLst/>
            </a:endParaRPr>
          </a:p>
          <a:p>
            <a:r>
              <a:rPr lang="en-CA" dirty="0"/>
              <a:t>Folger, MS V.a.170</a:t>
            </a:r>
            <a:endParaRPr lang="en-CA" dirty="0">
              <a:effectLst/>
            </a:endParaRPr>
          </a:p>
          <a:p>
            <a:r>
              <a:rPr lang="en-CA" dirty="0"/>
              <a:t>Folger, MS V.a.97</a:t>
            </a:r>
            <a:endParaRPr lang="en-CA" dirty="0">
              <a:effectLst/>
            </a:endParaRPr>
          </a:p>
          <a:p>
            <a:r>
              <a:rPr lang="en-CA" dirty="0"/>
              <a:t>University of Nottingham, Pw V 37</a:t>
            </a:r>
            <a:endParaRPr lang="en-CA" dirty="0">
              <a:effectLst/>
            </a:endParaRPr>
          </a:p>
          <a:p>
            <a:r>
              <a:rPr lang="en-CA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Yale Osborn MS fb 217</a:t>
            </a:r>
            <a:endParaRPr lang="en-CA" sz="2400" dirty="0">
              <a:solidFill>
                <a:schemeClr val="accent5">
                  <a:lumMod val="60000"/>
                  <a:lumOff val="40000"/>
                </a:schemeClr>
              </a:solidFill>
              <a:effectLst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80C53D-3EE6-C805-19D5-693FECB34ED9}"/>
              </a:ext>
            </a:extLst>
          </p:cNvPr>
          <p:cNvCxnSpPr>
            <a:cxnSpLocks/>
          </p:cNvCxnSpPr>
          <p:nvPr/>
        </p:nvCxnSpPr>
        <p:spPr>
          <a:xfrm>
            <a:off x="2724912" y="3255264"/>
            <a:ext cx="1501648" cy="108453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4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E8BB9-4090-5009-4312-FC6594A6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FF21644-4307-5AE0-FE31-C4055C79A6D3}"/>
              </a:ext>
            </a:extLst>
          </p:cNvPr>
          <p:cNvSpPr txBox="1"/>
          <p:nvPr/>
        </p:nvSpPr>
        <p:spPr>
          <a:xfrm>
            <a:off x="242824" y="474345"/>
            <a:ext cx="49418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Miscellanies (plus MS fb 217)</a:t>
            </a:r>
          </a:p>
          <a:p>
            <a:endParaRPr lang="en-CA" dirty="0"/>
          </a:p>
          <a:p>
            <a:r>
              <a:rPr lang="en-CA" dirty="0"/>
              <a:t>Aberdeen University Library, MS 29</a:t>
            </a:r>
            <a:endParaRPr lang="en-CA" dirty="0">
              <a:effectLst/>
            </a:endParaRPr>
          </a:p>
          <a:p>
            <a:r>
              <a:rPr lang="en-CA" dirty="0"/>
              <a:t>British Library, Add. MS 25707</a:t>
            </a:r>
            <a:endParaRPr lang="en-CA" dirty="0">
              <a:effectLst/>
            </a:endParaRPr>
          </a:p>
          <a:p>
            <a:r>
              <a:rPr lang="en-CA" dirty="0"/>
              <a:t>British Library, Add. MS 30982</a:t>
            </a:r>
            <a:endParaRPr lang="en-CA" dirty="0">
              <a:effectLst/>
            </a:endParaRPr>
          </a:p>
          <a:p>
            <a:r>
              <a:rPr lang="en-CA" dirty="0"/>
              <a:t>Bodleian, MS Ashmole 38</a:t>
            </a:r>
            <a:endParaRPr lang="en-CA" dirty="0">
              <a:effectLst/>
            </a:endParaRPr>
          </a:p>
          <a:p>
            <a:r>
              <a:rPr lang="en-CA" dirty="0"/>
              <a:t>Folger, MS V.a.170</a:t>
            </a:r>
            <a:endParaRPr lang="en-CA" dirty="0">
              <a:effectLst/>
            </a:endParaRPr>
          </a:p>
          <a:p>
            <a:r>
              <a:rPr lang="en-CA" dirty="0"/>
              <a:t>Folger, MS V.a.97</a:t>
            </a:r>
            <a:endParaRPr lang="en-CA" dirty="0">
              <a:effectLst/>
            </a:endParaRPr>
          </a:p>
          <a:p>
            <a:r>
              <a:rPr lang="en-CA" dirty="0"/>
              <a:t>University of Nottingham, Pw V 37</a:t>
            </a:r>
            <a:endParaRPr lang="en-CA" dirty="0">
              <a:effectLst/>
            </a:endParaRPr>
          </a:p>
          <a:p>
            <a:r>
              <a:rPr lang="en-CA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Yale Osborn MS fb 217</a:t>
            </a:r>
            <a:endParaRPr lang="en-CA" sz="2400" dirty="0">
              <a:solidFill>
                <a:schemeClr val="accent5">
                  <a:lumMod val="60000"/>
                  <a:lumOff val="40000"/>
                </a:schemeClr>
              </a:solidFill>
              <a:effectLst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7F416F-1286-8F02-BB1A-153EAFA4C9C0}"/>
              </a:ext>
            </a:extLst>
          </p:cNvPr>
          <p:cNvCxnSpPr>
            <a:cxnSpLocks/>
          </p:cNvCxnSpPr>
          <p:nvPr/>
        </p:nvCxnSpPr>
        <p:spPr>
          <a:xfrm>
            <a:off x="2660904" y="3200400"/>
            <a:ext cx="1472184" cy="112111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87FF243-6E27-9FE3-EC87-7743CD25BEBF}"/>
              </a:ext>
            </a:extLst>
          </p:cNvPr>
          <p:cNvSpPr txBox="1"/>
          <p:nvPr/>
        </p:nvSpPr>
        <p:spPr>
          <a:xfrm>
            <a:off x="246888" y="839837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Heading removed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5EC17-191F-73B7-66DF-DBAFBDECB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848" y="244603"/>
            <a:ext cx="7242000" cy="636879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B9FA99F-BE33-7484-F3D0-29E8144AC59A}"/>
              </a:ext>
            </a:extLst>
          </p:cNvPr>
          <p:cNvSpPr/>
          <p:nvPr/>
        </p:nvSpPr>
        <p:spPr>
          <a:xfrm>
            <a:off x="5702808" y="3904488"/>
            <a:ext cx="670560" cy="66751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897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DEC87-2F4A-01A1-D017-1C50F6AC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5CCCDC-19A5-C215-D79B-22DF49CA6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061" y="474345"/>
            <a:ext cx="7759227" cy="61733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9F6FFA-5F3F-7F81-BB0D-07AC312B1B3D}"/>
              </a:ext>
            </a:extLst>
          </p:cNvPr>
          <p:cNvSpPr txBox="1"/>
          <p:nvPr/>
        </p:nvSpPr>
        <p:spPr>
          <a:xfrm>
            <a:off x="242824" y="474345"/>
            <a:ext cx="4941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Miscellanies (plus MS fb 217)</a:t>
            </a:r>
          </a:p>
          <a:p>
            <a:endParaRPr lang="en-CA" dirty="0"/>
          </a:p>
          <a:p>
            <a:r>
              <a:rPr lang="en-CA" dirty="0"/>
              <a:t>Aberdeen University Library, MS 29</a:t>
            </a:r>
            <a:endParaRPr lang="en-CA" dirty="0">
              <a:effectLst/>
            </a:endParaRPr>
          </a:p>
          <a:p>
            <a:r>
              <a:rPr lang="en-CA" dirty="0"/>
              <a:t>British Library, Add. MS 25707</a:t>
            </a:r>
            <a:endParaRPr lang="en-CA" dirty="0">
              <a:effectLst/>
            </a:endParaRPr>
          </a:p>
          <a:p>
            <a:r>
              <a:rPr lang="en-CA" dirty="0"/>
              <a:t>British Library, Add. MS 30982</a:t>
            </a:r>
            <a:endParaRPr lang="en-CA" dirty="0">
              <a:effectLst/>
            </a:endParaRPr>
          </a:p>
          <a:p>
            <a:r>
              <a:rPr lang="en-CA" dirty="0"/>
              <a:t>Bodleian, MS Ashmole 38</a:t>
            </a:r>
            <a:endParaRPr lang="en-CA" dirty="0">
              <a:effectLst/>
            </a:endParaRPr>
          </a:p>
          <a:p>
            <a:r>
              <a:rPr lang="en-CA" dirty="0"/>
              <a:t>Folger, MS V.a.170</a:t>
            </a:r>
            <a:endParaRPr lang="en-CA" dirty="0">
              <a:effectLst/>
            </a:endParaRPr>
          </a:p>
          <a:p>
            <a:r>
              <a:rPr lang="en-CA" dirty="0"/>
              <a:t>Folger, MS V.a.97</a:t>
            </a:r>
            <a:endParaRPr lang="en-CA" dirty="0">
              <a:effectLst/>
            </a:endParaRPr>
          </a:p>
          <a:p>
            <a:r>
              <a:rPr lang="en-CA" dirty="0"/>
              <a:t>University of Nottingham, Pw V 37</a:t>
            </a:r>
            <a:endParaRPr lang="en-CA" dirty="0">
              <a:effectLst/>
            </a:endParaRPr>
          </a:p>
          <a:p>
            <a:r>
              <a:rPr lang="en-CA" dirty="0"/>
              <a:t>Yale Osborn MS fb 217</a:t>
            </a:r>
          </a:p>
          <a:p>
            <a:endParaRPr lang="en-CA" sz="2400" dirty="0">
              <a:effectLst/>
            </a:endParaRPr>
          </a:p>
          <a:p>
            <a:r>
              <a:rPr lang="en-CA" sz="2400" dirty="0"/>
              <a:t>Analyzing Clusters</a:t>
            </a:r>
          </a:p>
          <a:p>
            <a:endParaRPr lang="en-CA" sz="2400" dirty="0"/>
          </a:p>
          <a:p>
            <a:endParaRPr lang="en-CA" sz="2400" dirty="0">
              <a:effectLst/>
            </a:endParaRPr>
          </a:p>
          <a:p>
            <a:endParaRPr lang="en-CA" sz="2400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5F1D9F-93F4-BC73-C869-7D6EC71C82F2}"/>
              </a:ext>
            </a:extLst>
          </p:cNvPr>
          <p:cNvSpPr txBox="1"/>
          <p:nvPr/>
        </p:nvSpPr>
        <p:spPr>
          <a:xfrm>
            <a:off x="246888" y="839837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Heading removed</a:t>
            </a: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40D6C3E1-FADB-3594-83F2-494E3DCD1D86}"/>
              </a:ext>
            </a:extLst>
          </p:cNvPr>
          <p:cNvSpPr/>
          <p:nvPr/>
        </p:nvSpPr>
        <p:spPr>
          <a:xfrm>
            <a:off x="6879338" y="2262354"/>
            <a:ext cx="1709928" cy="1115568"/>
          </a:xfrm>
          <a:prstGeom prst="wedgeEllipseCallout">
            <a:avLst>
              <a:gd name="adj1" fmla="val 49220"/>
              <a:gd name="adj2" fmla="val -653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Life &amp; Death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CE5A23AD-E36A-49A0-50D3-3B21E5C59C46}"/>
              </a:ext>
            </a:extLst>
          </p:cNvPr>
          <p:cNvSpPr/>
          <p:nvPr/>
        </p:nvSpPr>
        <p:spPr>
          <a:xfrm>
            <a:off x="9428992" y="3137130"/>
            <a:ext cx="2110736" cy="1115568"/>
          </a:xfrm>
          <a:prstGeom prst="wedgeEllipseCallout">
            <a:avLst>
              <a:gd name="adj1" fmla="val 807"/>
              <a:gd name="adj2" fmla="val -801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Friendship &amp; Brotherhood</a:t>
            </a:r>
          </a:p>
        </p:txBody>
      </p:sp>
    </p:spTree>
    <p:extLst>
      <p:ext uri="{BB962C8B-B14F-4D97-AF65-F5344CB8AC3E}">
        <p14:creationId xmlns:p14="http://schemas.microsoft.com/office/powerpoint/2010/main" val="415419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C52E-1EE2-3184-AA80-C766CC55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884E2BA-3461-347D-8E38-789B1872EEE9}"/>
              </a:ext>
            </a:extLst>
          </p:cNvPr>
          <p:cNvSpPr txBox="1"/>
          <p:nvPr/>
        </p:nvSpPr>
        <p:spPr>
          <a:xfrm>
            <a:off x="242824" y="913017"/>
            <a:ext cx="497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Filtered data with stop words and asked ChatGPT to generate themes based on all the data in STEMMA</a:t>
            </a:r>
            <a:endParaRPr lang="en-CA" sz="20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5A9A0-E362-7EDB-3101-BA0E8A88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4"/>
          <a:stretch>
            <a:fillRect/>
          </a:stretch>
        </p:blipFill>
        <p:spPr>
          <a:xfrm>
            <a:off x="4846051" y="1035339"/>
            <a:ext cx="7103125" cy="560990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96630A1-835B-6175-9666-89018EA59F35}"/>
              </a:ext>
            </a:extLst>
          </p:cNvPr>
          <p:cNvSpPr/>
          <p:nvPr/>
        </p:nvSpPr>
        <p:spPr>
          <a:xfrm>
            <a:off x="5341620" y="1592414"/>
            <a:ext cx="1746504" cy="9692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2AD30-4217-3E6A-92DB-CFF122792B6C}"/>
              </a:ext>
            </a:extLst>
          </p:cNvPr>
          <p:cNvSpPr txBox="1"/>
          <p:nvPr/>
        </p:nvSpPr>
        <p:spPr>
          <a:xfrm>
            <a:off x="242824" y="2103090"/>
            <a:ext cx="6057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effectLst/>
              </a:rPr>
              <a:t>ChatGPT does not understand metaphor</a:t>
            </a:r>
          </a:p>
          <a:p>
            <a:endParaRPr lang="en-CA" sz="2000" dirty="0"/>
          </a:p>
          <a:p>
            <a:endParaRPr lang="en-CA" sz="2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A4C62-0050-5E4C-DBF8-B8A988F22A05}"/>
              </a:ext>
            </a:extLst>
          </p:cNvPr>
          <p:cNvSpPr txBox="1"/>
          <p:nvPr/>
        </p:nvSpPr>
        <p:spPr>
          <a:xfrm>
            <a:off x="242824" y="379891"/>
            <a:ext cx="605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effectLst/>
              </a:rPr>
              <a:t>Thematic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5850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95AE-E273-073E-CD8F-2BA27BFF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9B0747E-0458-94F1-C990-9557B12D9C8A}"/>
              </a:ext>
            </a:extLst>
          </p:cNvPr>
          <p:cNvSpPr txBox="1"/>
          <p:nvPr/>
        </p:nvSpPr>
        <p:spPr>
          <a:xfrm>
            <a:off x="242824" y="913017"/>
            <a:ext cx="4978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Defined our own theme of “religion and religious” with terms: </a:t>
            </a:r>
            <a:r>
              <a:rPr lang="en-US" sz="2000" dirty="0"/>
              <a:t>sin, grace, judgement, heaven, hell, death, resurrection, salvation</a:t>
            </a:r>
            <a:endParaRPr lang="en-US" sz="2000" dirty="0">
              <a:effectLst/>
            </a:endParaRPr>
          </a:p>
          <a:p>
            <a:endParaRPr lang="en-CA" sz="2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193C7-AA00-03CD-AAF6-6E6E138F296C}"/>
              </a:ext>
            </a:extLst>
          </p:cNvPr>
          <p:cNvSpPr txBox="1"/>
          <p:nvPr/>
        </p:nvSpPr>
        <p:spPr>
          <a:xfrm>
            <a:off x="242824" y="379891"/>
            <a:ext cx="605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effectLst/>
              </a:rPr>
              <a:t>Thematic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FBD15-99BE-EC21-7B3C-DD0FC1449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12" y="202564"/>
            <a:ext cx="6713878" cy="678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70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D1D59-9D81-4DD9-8E2A-26BA565D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6FAE2C-16E4-045E-276E-4268BC15F5F5}"/>
              </a:ext>
            </a:extLst>
          </p:cNvPr>
          <p:cNvSpPr txBox="1"/>
          <p:nvPr/>
        </p:nvSpPr>
        <p:spPr>
          <a:xfrm>
            <a:off x="242824" y="379891"/>
            <a:ext cx="605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effectLst/>
              </a:rPr>
              <a:t>Thematic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3C0F3-6E44-245A-3651-3241AF582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051" y="220306"/>
            <a:ext cx="8745011" cy="6419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CA0CE-258E-789F-B0F7-07AB1205AE70}"/>
              </a:ext>
            </a:extLst>
          </p:cNvPr>
          <p:cNvSpPr txBox="1"/>
          <p:nvPr/>
        </p:nvSpPr>
        <p:spPr>
          <a:xfrm>
            <a:off x="347472" y="4714818"/>
            <a:ext cx="2606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Where might George Herbert’s MS Tanner 307 score?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546A1-4C19-C8CF-5491-2008C232AA85}"/>
              </a:ext>
            </a:extLst>
          </p:cNvPr>
          <p:cNvSpPr txBox="1"/>
          <p:nvPr/>
        </p:nvSpPr>
        <p:spPr>
          <a:xfrm>
            <a:off x="347472" y="6108777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Lots of John Donne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2BF01-02F5-0E84-C301-9E19DE575A3F}"/>
              </a:ext>
            </a:extLst>
          </p:cNvPr>
          <p:cNvCxnSpPr>
            <a:cxnSpLocks/>
          </p:cNvCxnSpPr>
          <p:nvPr/>
        </p:nvCxnSpPr>
        <p:spPr>
          <a:xfrm>
            <a:off x="2421128" y="6293443"/>
            <a:ext cx="367487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EA0E706-68BC-AFD4-070A-288261EAC2ED}"/>
              </a:ext>
            </a:extLst>
          </p:cNvPr>
          <p:cNvSpPr txBox="1"/>
          <p:nvPr/>
        </p:nvSpPr>
        <p:spPr>
          <a:xfrm>
            <a:off x="347472" y="6496038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Gervase Disney 18</a:t>
            </a:r>
            <a:r>
              <a:rPr lang="en-CA" baseline="30000" dirty="0"/>
              <a:t>th</a:t>
            </a:r>
            <a:r>
              <a:rPr lang="en-CA" dirty="0"/>
              <a:t> c.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51234A-C610-B1C7-A589-D632A668BD20}"/>
              </a:ext>
            </a:extLst>
          </p:cNvPr>
          <p:cNvCxnSpPr>
            <a:cxnSpLocks/>
          </p:cNvCxnSpPr>
          <p:nvPr/>
        </p:nvCxnSpPr>
        <p:spPr>
          <a:xfrm flipV="1">
            <a:off x="2701544" y="6293443"/>
            <a:ext cx="5701792" cy="38726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04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D8D0-9266-408D-4244-32B62055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0374345-7CF1-7B26-6B03-40274C57114F}"/>
              </a:ext>
            </a:extLst>
          </p:cNvPr>
          <p:cNvSpPr txBox="1"/>
          <p:nvPr/>
        </p:nvSpPr>
        <p:spPr>
          <a:xfrm>
            <a:off x="242824" y="958737"/>
            <a:ext cx="1156208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ChatGPT doesn’t understand early modern poetry.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Personal names messed up our results: vectored data did not accommodate. Needed to do some data preparation or add as stop-words.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Visualizations are nice but reductive: cosine similarity more accurate and representative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Vectored data;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Results improved when we removed heading field (which included personal names)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number of items in </a:t>
            </a:r>
            <a:r>
              <a:rPr lang="en-CA" sz="2000" dirty="0" err="1"/>
              <a:t>ms</a:t>
            </a:r>
            <a:r>
              <a:rPr lang="en-CA" sz="2000" dirty="0"/>
              <a:t> does not skew data, but number line (one to four) skews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Lemmatization automatically eliminated most </a:t>
            </a:r>
            <a:r>
              <a:rPr lang="en-CA" sz="2000" dirty="0" err="1"/>
              <a:t>stopwords</a:t>
            </a:r>
            <a:r>
              <a:rPr lang="en-CA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Future scope: very flexible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Strong model for distant reading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Semantic analysis: diversity between manuscripts in 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Thematic analysis: apply more themes to generate DNA signatures of </a:t>
            </a:r>
            <a:r>
              <a:rPr lang="en-CA" sz="2000" dirty="0" err="1"/>
              <a:t>mss</a:t>
            </a:r>
            <a:endParaRPr lang="en-CA" sz="2000" dirty="0"/>
          </a:p>
          <a:p>
            <a:pPr lvl="1"/>
            <a:endParaRPr lang="en-C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endParaRPr lang="en-CA" sz="2000" dirty="0"/>
          </a:p>
          <a:p>
            <a:endParaRPr lang="en-CA" sz="2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DAE44-C8ED-84F7-4DB3-91856CDAB0B3}"/>
              </a:ext>
            </a:extLst>
          </p:cNvPr>
          <p:cNvSpPr txBox="1"/>
          <p:nvPr/>
        </p:nvSpPr>
        <p:spPr>
          <a:xfrm>
            <a:off x="242824" y="363349"/>
            <a:ext cx="605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effectLst/>
              </a:rPr>
              <a:t>What we learned</a:t>
            </a:r>
          </a:p>
        </p:txBody>
      </p:sp>
    </p:spTree>
    <p:extLst>
      <p:ext uri="{BB962C8B-B14F-4D97-AF65-F5344CB8AC3E}">
        <p14:creationId xmlns:p14="http://schemas.microsoft.com/office/powerpoint/2010/main" val="196318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fc8650-4476-421b-909d-614e83f293e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8E31870742BF419CAD8F969ADC3C16" ma:contentTypeVersion="18" ma:contentTypeDescription="Create a new document." ma:contentTypeScope="" ma:versionID="5e03ff631e449e2b2aca174c19da744a">
  <xsd:schema xmlns:xsd="http://www.w3.org/2001/XMLSchema" xmlns:xs="http://www.w3.org/2001/XMLSchema" xmlns:p="http://schemas.microsoft.com/office/2006/metadata/properties" xmlns:ns3="7efc8650-4476-421b-909d-614e83f293e8" xmlns:ns4="79db2cea-50e4-4fee-8cc8-6a8f92c51ffc" targetNamespace="http://schemas.microsoft.com/office/2006/metadata/properties" ma:root="true" ma:fieldsID="7f22627d8964c376c1287dd932b055c3" ns3:_="" ns4:_="">
    <xsd:import namespace="7efc8650-4476-421b-909d-614e83f293e8"/>
    <xsd:import namespace="79db2cea-50e4-4fee-8cc8-6a8f92c51f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fc8650-4476-421b-909d-614e83f293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b2cea-50e4-4fee-8cc8-6a8f92c51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E2A181-DD17-4305-BC2C-CEEB2B38B51A}">
  <ds:schemaRefs>
    <ds:schemaRef ds:uri="79db2cea-50e4-4fee-8cc8-6a8f92c51ffc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7efc8650-4476-421b-909d-614e83f293e8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BF149CC-A1CA-448B-8888-522BA9FEAB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9B33B1-460A-4843-8836-CB5BFB3337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fc8650-4476-421b-909d-614e83f293e8"/>
    <ds:schemaRef ds:uri="79db2cea-50e4-4fee-8cc8-6a8f92c51f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717</Words>
  <Application>Microsoft Office PowerPoint</Application>
  <PresentationFormat>Widescreen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Nelson, Brent</dc:creator>
  <cp:lastModifiedBy>Nelson, Brent</cp:lastModifiedBy>
  <cp:revision>2</cp:revision>
  <dcterms:created xsi:type="dcterms:W3CDTF">2025-07-07T15:49:22Z</dcterms:created>
  <dcterms:modified xsi:type="dcterms:W3CDTF">2025-07-09T09:34:01Z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0x010100378E31870742BF419CAD8F969ADC3C16</vt:lpwstr>
  </property>
</Properties>
</file>